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71" r:id="rId7"/>
    <p:sldId id="267" r:id="rId8"/>
    <p:sldId id="260" r:id="rId9"/>
    <p:sldId id="268" r:id="rId10"/>
    <p:sldId id="266" r:id="rId11"/>
    <p:sldId id="269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SPRINT REPORT</a:t>
            </a:r>
          </a:p>
          <a:p>
            <a:r>
              <a:t>Railway Ticket Booking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Sprint 1</a:t>
            </a:r>
          </a:p>
          <a:p>
            <a:r>
              <a:rPr lang="en-US" dirty="0"/>
              <a:t>Quy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: </a:t>
            </a:r>
            <a:r>
              <a:rPr dirty="0"/>
              <a:t>5</a:t>
            </a:r>
          </a:p>
          <a:p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: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vé</a:t>
            </a:r>
            <a:r>
              <a:rPr lang="en-US" dirty="0"/>
              <a:t> </a:t>
            </a:r>
            <a:r>
              <a:rPr lang="en-US" dirty="0" err="1"/>
              <a:t>tàu</a:t>
            </a:r>
            <a:r>
              <a:rPr lang="en-US" dirty="0"/>
              <a:t> </a:t>
            </a:r>
            <a:r>
              <a:rPr lang="en-US" dirty="0" err="1"/>
              <a:t>điện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Thành Viên:</a:t>
            </a:r>
          </a:p>
          <a:p>
            <a:r>
              <a:rPr lang="en-US" dirty="0"/>
              <a:t>Cao Nguyên Hồng (A) – Business + Docs</a:t>
            </a:r>
          </a:p>
          <a:p>
            <a:r>
              <a:rPr lang="en-US" dirty="0"/>
              <a:t>Dương Thành Công (B) – Frontend</a:t>
            </a:r>
          </a:p>
          <a:p>
            <a:r>
              <a:rPr lang="en-US" dirty="0" err="1"/>
              <a:t>Đăng</a:t>
            </a:r>
            <a:r>
              <a:rPr lang="en-US" dirty="0"/>
              <a:t> Văn Hậu (C) – Backend + DB</a:t>
            </a:r>
          </a:p>
          <a:p>
            <a:r>
              <a:rPr lang="en-US" dirty="0"/>
              <a:t>Huỳnh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(D)– QA + Integration</a:t>
            </a:r>
          </a:p>
          <a:p>
            <a:r>
              <a:rPr lang="en-US" dirty="0"/>
              <a:t> Võ Thanh Hà (D) – Demo + Report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vi-VN" dirty="0"/>
              <a:t>Mục tiêu của Sprint 1 là xây dựng và hoàn thiện luồng mua vé cơ bản (Happy Path) của hệ thống bán vé tàu điện.</a:t>
            </a:r>
          </a:p>
          <a:p>
            <a:r>
              <a:rPr lang="vi-VN" dirty="0"/>
              <a:t>Luồng này mô tả toàn bộ quá trình từ khi khách hàng tìm chuyến tàu cho đến khi nhân viên soát vé xác nhận vé hợp lệ bằng mã QR.</a:t>
            </a:r>
          </a:p>
          <a:p>
            <a:r>
              <a:rPr lang="vi-VN" dirty="0"/>
              <a:t>Sprint tập trung vào việc triển khai các chức năng quan trọng giúp hệ thống có thể demo được quy trình mua vé hoàn chỉnh.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Backlog (Planned)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548E77-9355-781F-44CB-3C9F1938A6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4150857"/>
              </p:ext>
            </p:extLst>
          </p:nvPr>
        </p:nvGraphicFramePr>
        <p:xfrm>
          <a:off x="457200" y="1600200"/>
          <a:ext cx="8229600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83028197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12254733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67515157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19910517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54153794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665382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Story/Task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Mô tả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Liên quan Fxx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/>
                        <a:t>Ưu tiên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/>
                        <a:t>Người phụ trách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/>
                        <a:t>Ước lượng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9365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Tìm chuyến theo ga/thời gian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F05, F06, F07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 +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 story 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7970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/>
                        <a:t>Chọn ghế trên sơ đồ toa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F08, F09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 +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 SP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4488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Thanh toán online mô phỏng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F10, F12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 +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 SP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365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Nhận vé QR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F13, F14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Must/Should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 SP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6863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Quét vé QR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 + 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 SP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36105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1294" y="4419600"/>
            <a:ext cx="7745506" cy="1706563"/>
          </a:xfrm>
        </p:spPr>
        <p:txBody>
          <a:bodyPr>
            <a:normAutofit fontScale="55000" lnSpcReduction="20000"/>
          </a:bodyPr>
          <a:lstStyle/>
          <a:p>
            <a:endParaRPr dirty="0"/>
          </a:p>
          <a:p>
            <a:r>
              <a:rPr lang="vi-VN" dirty="0"/>
              <a:t>Kết luận:</a:t>
            </a:r>
          </a:p>
          <a:p>
            <a:r>
              <a:rPr lang="vi-VN" dirty="0"/>
              <a:t>Tổng số User Stories: 5</a:t>
            </a:r>
          </a:p>
          <a:p>
            <a:r>
              <a:rPr lang="vi-VN" dirty="0"/>
              <a:t>Hoàn thành: 5</a:t>
            </a:r>
          </a:p>
          <a:p>
            <a:r>
              <a:rPr lang="vi-VN" dirty="0"/>
              <a:t>Tỷ lệ hoàn thành: </a:t>
            </a:r>
            <a:r>
              <a:rPr lang="vi-VN" b="1" dirty="0"/>
              <a:t>100%</a:t>
            </a:r>
            <a:endParaRPr lang="vi-VN" dirty="0"/>
          </a:p>
          <a:p>
            <a:r>
              <a:rPr lang="vi-VN" dirty="0"/>
              <a:t>Sprint đã đạt được mục tiêu đề ra.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5E0261-76F9-232A-382B-0F441EFB8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546031"/>
              </p:ext>
            </p:extLst>
          </p:nvPr>
        </p:nvGraphicFramePr>
        <p:xfrm>
          <a:off x="1066800" y="1397000"/>
          <a:ext cx="6553200" cy="320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1462842108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949973484"/>
                    </a:ext>
                  </a:extLst>
                </a:gridCol>
              </a:tblGrid>
              <a:tr h="533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User 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Trạng thái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059492"/>
                  </a:ext>
                </a:extLst>
              </a:tr>
              <a:tr h="533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Hoàn thành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8744872"/>
                  </a:ext>
                </a:extLst>
              </a:tr>
              <a:tr h="533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Hoàn thành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5792016"/>
                  </a:ext>
                </a:extLst>
              </a:tr>
              <a:tr h="533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Hoàn thành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0979870"/>
                  </a:ext>
                </a:extLst>
              </a:tr>
              <a:tr h="533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Hoàn thành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697619"/>
                  </a:ext>
                </a:extLst>
              </a:tr>
              <a:tr h="533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Hoàn </a:t>
                      </a:r>
                      <a:r>
                        <a:rPr lang="en-US" dirty="0" err="1"/>
                        <a:t>thành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4488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B8112-B394-8FB8-2E1D-DB8AED03B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9C49-2630-01F3-7437-657E4AAF3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38461-846C-B809-BE22-C484191EC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294" y="4419600"/>
            <a:ext cx="7745506" cy="1706563"/>
          </a:xfrm>
        </p:spPr>
        <p:txBody>
          <a:bodyPr>
            <a:normAutofit fontScale="55000" lnSpcReduction="20000"/>
          </a:bodyPr>
          <a:lstStyle/>
          <a:p>
            <a:endParaRPr dirty="0"/>
          </a:p>
          <a:p>
            <a:r>
              <a:rPr lang="vi-VN" dirty="0"/>
              <a:t>Kết luận:</a:t>
            </a:r>
          </a:p>
          <a:p>
            <a:r>
              <a:rPr lang="vi-VN" dirty="0"/>
              <a:t>Tổng số User Stories: 5</a:t>
            </a:r>
          </a:p>
          <a:p>
            <a:r>
              <a:rPr lang="vi-VN" dirty="0"/>
              <a:t>Hoàn thành: 5</a:t>
            </a:r>
          </a:p>
          <a:p>
            <a:r>
              <a:rPr lang="vi-VN" dirty="0"/>
              <a:t>Tỷ lệ hoàn thành: </a:t>
            </a:r>
            <a:r>
              <a:rPr lang="vi-VN" b="1" dirty="0"/>
              <a:t>100%</a:t>
            </a:r>
            <a:endParaRPr lang="vi-VN" dirty="0"/>
          </a:p>
          <a:p>
            <a:r>
              <a:rPr lang="vi-VN" dirty="0"/>
              <a:t>Sprint đã đạt được mục tiêu đề ra.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679B44E-0E0F-5650-CD1D-0ABD3229C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939370"/>
              </p:ext>
            </p:extLst>
          </p:nvPr>
        </p:nvGraphicFramePr>
        <p:xfrm>
          <a:off x="941296" y="1129553"/>
          <a:ext cx="7512423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766">
                  <a:extLst>
                    <a:ext uri="{9D8B030D-6E8A-4147-A177-3AD203B41FA5}">
                      <a16:colId xmlns:a16="http://schemas.microsoft.com/office/drawing/2014/main" val="810057537"/>
                    </a:ext>
                  </a:extLst>
                </a:gridCol>
                <a:gridCol w="1889219">
                  <a:extLst>
                    <a:ext uri="{9D8B030D-6E8A-4147-A177-3AD203B41FA5}">
                      <a16:colId xmlns:a16="http://schemas.microsoft.com/office/drawing/2014/main" val="3188054191"/>
                    </a:ext>
                  </a:extLst>
                </a:gridCol>
                <a:gridCol w="1889219">
                  <a:extLst>
                    <a:ext uri="{9D8B030D-6E8A-4147-A177-3AD203B41FA5}">
                      <a16:colId xmlns:a16="http://schemas.microsoft.com/office/drawing/2014/main" val="3162778924"/>
                    </a:ext>
                  </a:extLst>
                </a:gridCol>
                <a:gridCol w="1889219">
                  <a:extLst>
                    <a:ext uri="{9D8B030D-6E8A-4147-A177-3AD203B41FA5}">
                      <a16:colId xmlns:a16="http://schemas.microsoft.com/office/drawing/2014/main" val="2102595466"/>
                    </a:ext>
                  </a:extLst>
                </a:gridCol>
              </a:tblGrid>
              <a:tr h="288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Hạng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mục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Trạng thái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Bằng chứng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Ghi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chú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4863475"/>
                  </a:ext>
                </a:extLst>
              </a:tr>
              <a:tr h="722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US01 – Tìm chuyến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Ảnh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màn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hình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tìm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chuyến</a:t>
                      </a:r>
                      <a:r>
                        <a:rPr lang="en-US" dirty="0"/>
                        <a:t> + API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Luồng hoạt động đúng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6156438"/>
                  </a:ext>
                </a:extLst>
              </a:tr>
              <a:tr h="722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US01 – Tìm chuyến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Ảnh màn hình tìm chuyến + API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Luồng hoạt động đúng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642675"/>
                  </a:ext>
                </a:extLst>
              </a:tr>
              <a:tr h="722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US01 – Tìm chuyến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Ảnh màn hình tìm chuyến + API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Luồng hoạt động đúng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7375183"/>
                  </a:ext>
                </a:extLst>
              </a:tr>
              <a:tr h="722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US01 – Tìm chuyến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Ảnh màn hình tìm chuyến + API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Luồng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hoạt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động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đúng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007770"/>
                  </a:ext>
                </a:extLst>
              </a:tr>
              <a:tr h="722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US01 – Tìm chuyến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Ảnh màn hình tìm chuyến + API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Luồng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hoạt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động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đúng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335459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9D39398-0816-CB3C-0FFD-5FA06616CD3A}"/>
              </a:ext>
            </a:extLst>
          </p:cNvPr>
          <p:cNvSpPr txBox="1"/>
          <p:nvPr/>
        </p:nvSpPr>
        <p:spPr>
          <a:xfrm>
            <a:off x="2850777" y="6126163"/>
            <a:ext cx="4787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Bảng</a:t>
            </a:r>
            <a:r>
              <a:rPr lang="en-US" dirty="0"/>
              <a:t> Các </a:t>
            </a:r>
            <a:r>
              <a:rPr lang="en-US" dirty="0" err="1"/>
              <a:t>hạng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10931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C42D0-68CE-C2D5-FC30-6FBFB45D3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A2ED-DB6A-2C9E-FC6E-224A0CD6D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Result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7E9807-BF31-E0D4-46F5-B95A91E8D6CE}"/>
              </a:ext>
            </a:extLst>
          </p:cNvPr>
          <p:cNvSpPr txBox="1"/>
          <p:nvPr/>
        </p:nvSpPr>
        <p:spPr>
          <a:xfrm>
            <a:off x="2294965" y="3929810"/>
            <a:ext cx="4787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Hạng mục chưa hoàn thành / đang thực hiện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30DD58-5AB4-04D6-F1D3-00A54159E5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285293"/>
              </p:ext>
            </p:extLst>
          </p:nvPr>
        </p:nvGraphicFramePr>
        <p:xfrm>
          <a:off x="1524000" y="1397000"/>
          <a:ext cx="6096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87691584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94999103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6346653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682835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Hạng mục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Trạng thái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Lý 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/>
                        <a:t>Hướng xử lý Sprint sau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0846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Hạng mục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Trạng thái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Lý 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/>
                        <a:t>Hướng xử lý Sprint sau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5517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Hạng mục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Trạng thái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Lý 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dirty="0"/>
                        <a:t>Hướng xử lý Sprint sau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0318931"/>
                  </a:ext>
                </a:extLst>
              </a:tr>
            </a:tbl>
          </a:graphicData>
        </a:graphic>
      </p:graphicFrame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3FD83C0-77F0-EDF0-13F1-E099BBDC2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098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9797D-C864-36A3-C16F-0EC5286DD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E6E02-5BA6-14BC-74AB-728264484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Business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AA607-2D79-376F-E134-B9F763FF2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Register:</a:t>
            </a:r>
          </a:p>
          <a:p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28AA68-66E7-7ADC-D6C3-3F5AD82D2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435" y="1736083"/>
            <a:ext cx="6409765" cy="395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224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Business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Login:</a:t>
            </a:r>
          </a:p>
          <a:p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D7A01D-FE0D-45E8-7BF9-A54C45817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135" y="1801906"/>
            <a:ext cx="6829224" cy="42044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9FC77-5457-2C4B-8027-FB7DB9D40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98ED-A089-DC55-16E4-3493D23A9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Business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C822A-2215-5ABB-FAE9-03552F3F4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Buy: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641B47-AC0E-036B-8E24-2062F2678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9" y="1848278"/>
            <a:ext cx="6562165" cy="402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995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CD17C-B846-B06B-DF01-F438FF238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B4BA6-98F9-AD7B-251F-2528116B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Business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AF71-FD2D-974D-F8F2-238304C03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Search:</a:t>
            </a:r>
          </a:p>
          <a:p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0F39B3-D20D-AEC6-2DDA-639056843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859" y="1739153"/>
            <a:ext cx="6325047" cy="390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572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1F93A-1568-45D6-0F38-973192E81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F6FDC-327C-1B8D-397A-BFE6FE68C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Business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004BD-6298-6208-702E-0E15FE2E6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Paymemt</a:t>
            </a:r>
            <a:r>
              <a:rPr lang="en-US" dirty="0"/>
              <a:t>: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8339E3-CC6A-DEB7-AE1C-7F529C4F2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352" y="2257957"/>
            <a:ext cx="6795247" cy="415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905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vi-VN" b="1" dirty="0"/>
              <a:t>Kết quả kiểm thử hệ thống</a:t>
            </a:r>
            <a:endParaRPr lang="vi-VN" dirty="0"/>
          </a:p>
          <a:p>
            <a:r>
              <a:rPr lang="vi-VN" dirty="0"/>
              <a:t>Tổng số test case đã viết: </a:t>
            </a:r>
            <a:r>
              <a:rPr lang="vi-VN" b="1" dirty="0"/>
              <a:t>10</a:t>
            </a:r>
            <a:endParaRPr lang="vi-VN" dirty="0"/>
          </a:p>
          <a:p>
            <a:r>
              <a:rPr lang="vi-VN" dirty="0"/>
              <a:t>Kết quả kiểm thử:</a:t>
            </a:r>
          </a:p>
          <a:p>
            <a:r>
              <a:rPr lang="vi-VN" dirty="0"/>
              <a:t>Pass: 10</a:t>
            </a:r>
          </a:p>
          <a:p>
            <a:r>
              <a:rPr lang="vi-VN" dirty="0"/>
              <a:t>Fail: 0</a:t>
            </a:r>
          </a:p>
          <a:p>
            <a:r>
              <a:rPr lang="vi-VN" dirty="0"/>
              <a:t>Lỗi nghiêm trọng: 0</a:t>
            </a:r>
          </a:p>
          <a:p>
            <a:r>
              <a:rPr lang="vi-VN" dirty="0"/>
              <a:t>Các nhóm kiểm thử bao gồm:</a:t>
            </a:r>
          </a:p>
          <a:p>
            <a:r>
              <a:rPr lang="vi-VN" dirty="0"/>
              <a:t>Kiểm thử luồng mua vé (Happy Path)</a:t>
            </a:r>
          </a:p>
          <a:p>
            <a:r>
              <a:rPr lang="vi-VN" dirty="0"/>
              <a:t>Kiểm thử lỗi cạnh biên</a:t>
            </a:r>
          </a:p>
          <a:p>
            <a:r>
              <a:rPr lang="vi-VN" dirty="0"/>
              <a:t>Kiểm thử hồi quy cơ bản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846" y="5369859"/>
            <a:ext cx="8139953" cy="756304"/>
          </a:xfrm>
        </p:spPr>
        <p:txBody>
          <a:bodyPr/>
          <a:lstStyle/>
          <a:p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3A7AD1-0670-D846-0D77-CAE23885E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605113"/>
              </p:ext>
            </p:extLst>
          </p:nvPr>
        </p:nvGraphicFramePr>
        <p:xfrm>
          <a:off x="1317812" y="607082"/>
          <a:ext cx="6508375" cy="5591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337">
                  <a:extLst>
                    <a:ext uri="{9D8B030D-6E8A-4147-A177-3AD203B41FA5}">
                      <a16:colId xmlns:a16="http://schemas.microsoft.com/office/drawing/2014/main" val="2135974830"/>
                    </a:ext>
                  </a:extLst>
                </a:gridCol>
                <a:gridCol w="1200841">
                  <a:extLst>
                    <a:ext uri="{9D8B030D-6E8A-4147-A177-3AD203B41FA5}">
                      <a16:colId xmlns:a16="http://schemas.microsoft.com/office/drawing/2014/main" val="1094851183"/>
                    </a:ext>
                  </a:extLst>
                </a:gridCol>
                <a:gridCol w="2536513">
                  <a:extLst>
                    <a:ext uri="{9D8B030D-6E8A-4147-A177-3AD203B41FA5}">
                      <a16:colId xmlns:a16="http://schemas.microsoft.com/office/drawing/2014/main" val="2647577457"/>
                    </a:ext>
                  </a:extLst>
                </a:gridCol>
                <a:gridCol w="890771">
                  <a:extLst>
                    <a:ext uri="{9D8B030D-6E8A-4147-A177-3AD203B41FA5}">
                      <a16:colId xmlns:a16="http://schemas.microsoft.com/office/drawing/2014/main" val="1375107431"/>
                    </a:ext>
                  </a:extLst>
                </a:gridCol>
                <a:gridCol w="1091913">
                  <a:extLst>
                    <a:ext uri="{9D8B030D-6E8A-4147-A177-3AD203B41FA5}">
                      <a16:colId xmlns:a16="http://schemas.microsoft.com/office/drawing/2014/main" val="4058232259"/>
                    </a:ext>
                  </a:extLst>
                </a:gridCol>
              </a:tblGrid>
              <a:tr h="40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Test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Mô tả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Mong đợi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Kết quả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Mức độ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409401"/>
                  </a:ext>
                </a:extLst>
              </a:tr>
              <a:tr h="766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TC01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Tìm chuyến hợp lệ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Hệ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thống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sách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chuyến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đúng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điều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kiện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297181"/>
                  </a:ext>
                </a:extLst>
              </a:tr>
              <a:tr h="927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TC02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/>
                        <a:t>Hai người đặt cùng một ghế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/>
                        <a:t>Chỉ một người đặt vé thành công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Rất cao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634843"/>
                  </a:ext>
                </a:extLst>
              </a:tr>
              <a:tr h="579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TC03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Chọn ghế còn trống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/>
                        <a:t>Ghế được giữ tạm thời trong 5–10 phút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1814983"/>
                  </a:ext>
                </a:extLst>
              </a:tr>
              <a:tr h="753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TC04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Thanh toán thành công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Hệ thống tạo vé điện tử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7120078"/>
                  </a:ext>
                </a:extLst>
              </a:tr>
              <a:tr h="579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TC05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Sinh mã QR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/>
                        <a:t>Vé được tạo với QR duy nhất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4157563"/>
                  </a:ext>
                </a:extLst>
              </a:tr>
              <a:tr h="40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TC06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Quét QR hợp lệ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Hệ thống xác nhận vé hợp lệ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66371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vi-VN" b="1" dirty="0"/>
              <a:t>Đánh giá chất lượng hệ thống</a:t>
            </a:r>
            <a:endParaRPr lang="vi-VN" dirty="0"/>
          </a:p>
          <a:p>
            <a:r>
              <a:rPr lang="vi-VN" dirty="0"/>
              <a:t>Hiệu năng</a:t>
            </a:r>
          </a:p>
          <a:p>
            <a:r>
              <a:rPr lang="vi-VN" dirty="0"/>
              <a:t>Chức năng tìm chuyến trả kết quả trong </a:t>
            </a:r>
            <a:r>
              <a:rPr lang="vi-VN" b="1" dirty="0"/>
              <a:t>≤ 2 giây</a:t>
            </a:r>
            <a:endParaRPr lang="vi-VN" dirty="0"/>
          </a:p>
          <a:p>
            <a:r>
              <a:rPr lang="vi-VN" dirty="0"/>
              <a:t>Bảo mật</a:t>
            </a:r>
          </a:p>
          <a:p>
            <a:r>
              <a:rPr lang="vi-VN" dirty="0"/>
              <a:t>Mật khẩu người dùng được </a:t>
            </a:r>
            <a:r>
              <a:rPr lang="vi-VN" b="1" dirty="0"/>
              <a:t>mã hóa (hash)</a:t>
            </a:r>
            <a:r>
              <a:rPr lang="vi-VN" dirty="0"/>
              <a:t> trước khi lưu vào cơ sở dữ liệu</a:t>
            </a:r>
          </a:p>
          <a:p>
            <a:r>
              <a:rPr lang="vi-VN" dirty="0"/>
              <a:t>Độ tin cậy</a:t>
            </a:r>
          </a:p>
          <a:p>
            <a:r>
              <a:rPr lang="vi-VN" dirty="0"/>
              <a:t>Hệ thống </a:t>
            </a:r>
            <a:r>
              <a:rPr lang="vi-VN" b="1" dirty="0"/>
              <a:t>không cho phép hai người đặt cùng một ghế</a:t>
            </a:r>
            <a:endParaRPr lang="vi-VN" dirty="0"/>
          </a:p>
          <a:p>
            <a:r>
              <a:rPr lang="vi-VN" dirty="0"/>
              <a:t>Khả dụng</a:t>
            </a:r>
          </a:p>
          <a:p>
            <a:r>
              <a:rPr lang="vi-VN" dirty="0"/>
              <a:t>Quy trình mua vé được thiết kế </a:t>
            </a:r>
            <a:r>
              <a:rPr lang="vi-VN" b="1" dirty="0"/>
              <a:t>không quá 5 bước</a:t>
            </a:r>
            <a:endParaRPr lang="vi-V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vi-VN" b="1" dirty="0"/>
              <a:t>Các vấn đề gặp phải</a:t>
            </a:r>
            <a:endParaRPr lang="vi-VN" dirty="0"/>
          </a:p>
          <a:p>
            <a:r>
              <a:rPr lang="vi-VN" dirty="0"/>
              <a:t>Vấn đề 1</a:t>
            </a:r>
          </a:p>
          <a:p>
            <a:r>
              <a:rPr lang="vi-VN" dirty="0"/>
              <a:t>Xung đột khi nhiều người cùng chọn một ghế</a:t>
            </a:r>
          </a:p>
          <a:p>
            <a:r>
              <a:rPr lang="vi-VN" dirty="0"/>
              <a:t>Giải pháp</a:t>
            </a:r>
          </a:p>
          <a:p>
            <a:r>
              <a:rPr lang="vi-VN" dirty="0"/>
              <a:t>Áp dụng cơ chế </a:t>
            </a:r>
            <a:r>
              <a:rPr lang="vi-VN" b="1" dirty="0"/>
              <a:t>giữ ghế tạm thời 5–10 phút</a:t>
            </a:r>
            <a:endParaRPr lang="vi-VN" dirty="0"/>
          </a:p>
          <a:p>
            <a:endParaRPr lang="vi-VN" dirty="0"/>
          </a:p>
          <a:p>
            <a:r>
              <a:rPr lang="vi-VN" dirty="0"/>
              <a:t>Vấn đề 2</a:t>
            </a:r>
          </a:p>
          <a:p>
            <a:r>
              <a:rPr lang="vi-VN" dirty="0"/>
              <a:t>Chức năng gửi email vé chưa ổn định</a:t>
            </a:r>
          </a:p>
          <a:p>
            <a:r>
              <a:rPr lang="vi-VN" dirty="0"/>
              <a:t>Giải pháp</a:t>
            </a:r>
          </a:p>
          <a:p>
            <a:r>
              <a:rPr lang="vi-VN" dirty="0"/>
              <a:t>Tạm thời sử dụng </a:t>
            </a:r>
            <a:r>
              <a:rPr lang="vi-VN" b="1" dirty="0"/>
              <a:t>mock email / log hệ thống</a:t>
            </a:r>
            <a:endParaRPr lang="vi-V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Sprint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vi-VN" b="1" dirty="0"/>
              <a:t>Kế hoạch Sprint tiếp theo</a:t>
            </a:r>
            <a:endParaRPr lang="vi-VN" dirty="0"/>
          </a:p>
          <a:p>
            <a:r>
              <a:rPr lang="vi-VN" dirty="0"/>
              <a:t>Các chức năng ưu tiên:</a:t>
            </a:r>
          </a:p>
          <a:p>
            <a:r>
              <a:rPr lang="vi-VN" dirty="0"/>
              <a:t>Ưu tiên 1</a:t>
            </a:r>
          </a:p>
          <a:p>
            <a:r>
              <a:rPr lang="vi-VN" dirty="0"/>
              <a:t>Triển khai chức năng </a:t>
            </a:r>
            <a:r>
              <a:rPr lang="vi-VN" b="1" dirty="0"/>
              <a:t>hủy vé (F16)</a:t>
            </a:r>
            <a:endParaRPr lang="vi-VN" dirty="0"/>
          </a:p>
          <a:p>
            <a:r>
              <a:rPr lang="vi-VN" dirty="0"/>
              <a:t>Ưu tiên 2</a:t>
            </a:r>
          </a:p>
          <a:p>
            <a:r>
              <a:rPr lang="vi-VN" dirty="0"/>
              <a:t>Hoàn thiện chức năng </a:t>
            </a:r>
            <a:r>
              <a:rPr lang="vi-VN" b="1" dirty="0"/>
              <a:t>quản lý hệ thống cho Admin</a:t>
            </a:r>
            <a:endParaRPr lang="vi-VN" dirty="0"/>
          </a:p>
          <a:p>
            <a:r>
              <a:rPr lang="vi-VN" dirty="0"/>
              <a:t>Ưu tiên 3</a:t>
            </a:r>
          </a:p>
          <a:p>
            <a:r>
              <a:rPr lang="vi-VN" dirty="0"/>
              <a:t>Xây dựng </a:t>
            </a:r>
            <a:r>
              <a:rPr lang="vi-VN" b="1" dirty="0"/>
              <a:t>báo cáo doanh thu</a:t>
            </a:r>
            <a:endParaRPr lang="vi-VN" dirty="0"/>
          </a:p>
          <a:p>
            <a:r>
              <a:rPr lang="vi-VN" dirty="0"/>
              <a:t>Mục tiêu Sprint tiếp theo:</a:t>
            </a:r>
          </a:p>
          <a:p>
            <a:r>
              <a:rPr lang="vi-VN" dirty="0"/>
              <a:t>Tiếp tục hoàn thiện các chức năng </a:t>
            </a:r>
            <a:r>
              <a:rPr lang="vi-VN" b="1" dirty="0"/>
              <a:t>Should và Could</a:t>
            </a:r>
            <a:r>
              <a:rPr lang="vi-VN" dirty="0"/>
              <a:t> trong hệ thống và nâng cao chất lượng kiểm thử.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861</Words>
  <Application>Microsoft Office PowerPoint</Application>
  <PresentationFormat>On-screen Show (4:3)</PresentationFormat>
  <Paragraphs>205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SPRINT REPORT Railway Ticket Booking System</vt:lpstr>
      <vt:lpstr>Sprint Goal</vt:lpstr>
      <vt:lpstr>Sprint Backlog (Planned)</vt:lpstr>
      <vt:lpstr>Sprint Result</vt:lpstr>
      <vt:lpstr>Sprint Result</vt:lpstr>
      <vt:lpstr>Sprint Result</vt:lpstr>
      <vt:lpstr>Demo Business Flow</vt:lpstr>
      <vt:lpstr>Demo Business Flow</vt:lpstr>
      <vt:lpstr>Demo Business Flow</vt:lpstr>
      <vt:lpstr>Demo Business Flow</vt:lpstr>
      <vt:lpstr>Demo Business Flow</vt:lpstr>
      <vt:lpstr>Testing Result</vt:lpstr>
      <vt:lpstr>PowerPoint Presentation</vt:lpstr>
      <vt:lpstr>System Quality</vt:lpstr>
      <vt:lpstr>Risks &amp; Issues</vt:lpstr>
      <vt:lpstr>Next Sprint Plan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Huynh Ton</cp:lastModifiedBy>
  <cp:revision>3</cp:revision>
  <dcterms:created xsi:type="dcterms:W3CDTF">2013-01-27T09:14:16Z</dcterms:created>
  <dcterms:modified xsi:type="dcterms:W3CDTF">2026-03-16T04:27:19Z</dcterms:modified>
  <cp:category/>
</cp:coreProperties>
</file>